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23560"/>
            <a:ext cx="12188952" cy="1234440"/>
          </a:xfrm>
          <a:prstGeom prst="rect">
            <a:avLst/>
          </a:prstGeom>
          <a:solidFill>
            <a:srgbClr val="1A0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26280" y="0"/>
            <a:ext cx="91440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8404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PRESENTED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Ayush Yadav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Roll No. 2329304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50876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B.Tech CSE  ·  Section 4-C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38528"/>
            <a:ext cx="3840480" cy="27432"/>
          </a:xfrm>
          <a:prstGeom prst="rect">
            <a:avLst/>
          </a:prstGeom>
          <a:solidFill>
            <a:srgbClr val="3B0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02996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SUBMITTED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28600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Ms. Mandeep Kaur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88920"/>
            <a:ext cx="3840480" cy="27432"/>
          </a:xfrm>
          <a:prstGeom prst="rect">
            <a:avLst/>
          </a:prstGeom>
          <a:solidFill>
            <a:srgbClr val="3B0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88036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INSTITUTION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36392"/>
            <a:ext cx="4023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PCTE Institute of Engineering
and Technology, Ludhiana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913632"/>
            <a:ext cx="3840480" cy="27432"/>
          </a:xfrm>
          <a:prstGeom prst="rect">
            <a:avLst/>
          </a:prstGeom>
          <a:solidFill>
            <a:srgbClr val="3B0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400507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B.Tech CSE  ·  Academic Year 2026–2027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20040"/>
            <a:ext cx="7132320" cy="274320"/>
          </a:xfrm>
          <a:prstGeom prst="rect">
            <a:avLst/>
          </a:prstGeom>
          <a:solidFill>
            <a:srgbClr val="3B0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2004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BD5E1"/>
                </a:solidFill>
                <a:latin typeface="Calibri"/>
              </a:rPr>
              <a:t>AI-POWERED LEGALTECH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749808"/>
            <a:ext cx="7132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157276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7C3AED"/>
                </a:solidFill>
                <a:latin typeface="Calibri"/>
              </a:rPr>
              <a:t>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2487168"/>
            <a:ext cx="71323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2633472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BD5E1"/>
                </a:solidFill>
                <a:latin typeface="Calibri"/>
              </a:rPr>
              <a:t>AI-POWERED CONTRACT RISK ANALYZER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090672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Intelligent Contract Analysis Using AI, RAG &amp; Automated Risk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767328"/>
            <a:ext cx="2304288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3767328"/>
            <a:ext cx="2304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DOCUMENT 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3767328"/>
            <a:ext cx="2304288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3767328"/>
            <a:ext cx="2304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RISK SCORING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3767328"/>
            <a:ext cx="2304288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3767328"/>
            <a:ext cx="2304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SMART REDLINE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5833872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FastAPI · Python · React/TypeScript · ChromaDB · LangChain · OpenAI · SQLite · ReportLab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922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Why contract review needs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11548872" cy="22860"/>
          </a:xfrm>
          <a:prstGeom prst="rect">
            <a:avLst/>
          </a:prstGeom>
          <a:solidFill>
            <a:srgbClr val="3B0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11548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  <a:latin typeface="Calibri"/>
              </a:rPr>
              <a:t>ContractAI  ·  PCTE Institute of Engineering and Technology, Ludhiana  ·  Ayush Yadav  2329304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577840" cy="1078992"/>
          </a:xfrm>
          <a:prstGeom prst="rect">
            <a:avLst/>
          </a:prstGeom>
          <a:solidFill>
            <a:srgbClr val="1E293B"/>
          </a:solidFill>
          <a:ln w="6350">
            <a:solidFill>
              <a:srgbClr val="3B0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82296" cy="10789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VOLUME &amp; LENGTH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0992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Contracts span dozens of pages with dense legal language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68880"/>
            <a:ext cx="5577840" cy="1078992"/>
          </a:xfrm>
          <a:prstGeom prst="rect">
            <a:avLst/>
          </a:prstGeom>
          <a:solidFill>
            <a:srgbClr val="1E293B"/>
          </a:solidFill>
          <a:ln w="6350">
            <a:solidFill>
              <a:srgbClr val="3B0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468880"/>
            <a:ext cx="82296" cy="10789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MISSED CLAUSES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443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Critical risk clauses can easily be overlooked manually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703320"/>
            <a:ext cx="5577840" cy="1078992"/>
          </a:xfrm>
          <a:prstGeom prst="rect">
            <a:avLst/>
          </a:prstGeom>
          <a:solidFill>
            <a:srgbClr val="1E293B"/>
          </a:solidFill>
          <a:ln w="6350">
            <a:solidFill>
              <a:srgbClr val="3B0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703320"/>
            <a:ext cx="82296" cy="10789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9476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TIME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7880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Manual legal review is slow and often expensive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937760"/>
            <a:ext cx="5577840" cy="1078992"/>
          </a:xfrm>
          <a:prstGeom prst="rect">
            <a:avLst/>
          </a:prstGeom>
          <a:solidFill>
            <a:srgbClr val="1E293B"/>
          </a:solidFill>
          <a:ln w="6350">
            <a:solidFill>
              <a:srgbClr val="3B0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937760"/>
            <a:ext cx="82296" cy="10789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02920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ACCESSIBILITY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1324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Non-legal users struggle to interpret complex legal terms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170432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TRADITIONAL APPROACH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572768"/>
            <a:ext cx="5486400" cy="749808"/>
          </a:xfrm>
          <a:prstGeom prst="rect">
            <a:avLst/>
          </a:prstGeom>
          <a:solidFill>
            <a:srgbClr val="33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1636776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📄  LONG CONTRACT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197510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BD5E1"/>
                </a:solidFill>
                <a:latin typeface="Calibri"/>
              </a:rPr>
              <a:t>Dozens of pages, dense clauses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340864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2624328"/>
            <a:ext cx="5486400" cy="749808"/>
          </a:xfrm>
          <a:prstGeom prst="rect">
            <a:avLst/>
          </a:prstGeom>
          <a:solidFill>
            <a:srgbClr val="28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2688336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👁   MANUAL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302666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BD5E1"/>
                </a:solidFill>
                <a:latin typeface="Calibri"/>
              </a:rPr>
              <a:t>Lawyer reads every clause carefully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3392424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3675887"/>
            <a:ext cx="5486400" cy="749808"/>
          </a:xfrm>
          <a:prstGeom prst="rect">
            <a:avLst/>
          </a:prstGeom>
          <a:solidFill>
            <a:srgbClr val="5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3739896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⏱   TIME &amp; COST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407822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BD5E1"/>
                </a:solidFill>
                <a:latin typeface="Calibri"/>
              </a:rPr>
              <a:t>Hours of billable legal work required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4443983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4727448"/>
            <a:ext cx="5486400" cy="749808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4791456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⚠   MISSED RISKS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512978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BD5E1"/>
                </a:solidFill>
                <a:latin typeface="Calibri"/>
              </a:rPr>
              <a:t>Key risky clauses can be overlooked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CONTRACTAI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922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A browser-based AI contract risk analysis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11548872" cy="22860"/>
          </a:xfrm>
          <a:prstGeom prst="rect">
            <a:avLst/>
          </a:prstGeom>
          <a:solidFill>
            <a:srgbClr val="3B0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11548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  <a:latin typeface="Calibri"/>
              </a:rPr>
              <a:t>ContractAI  ·  PCTE Institute of Engineering and Technology, Ludhiana  ·  Ayush Yadav  2329304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649224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3B0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35608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325880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Document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709928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Accepts PDF &amp; DOCX contracts — PyMuPDF + python-docx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96312"/>
            <a:ext cx="649224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3B0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697480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2587752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Clause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7180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Identifies 15+ legal clause categories with regex NLP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758183"/>
            <a:ext cx="649224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3B0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959351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849623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AI + RAG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233671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GPT-4o-mini + ChromaDB + Rule Engine (40/40/20 weights)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020056"/>
            <a:ext cx="649224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3B0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5221224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5111496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Risk Score &amp; Redline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5495544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0–100 composite score with AI-suggested safer clauses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117043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ANALYSIS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50608" y="1572768"/>
            <a:ext cx="470916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50608" y="1682495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UPLOAD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8" y="21396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2340864"/>
            <a:ext cx="470916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2450592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TEXT EXTRACTION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8" y="290779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50608" y="3108960"/>
            <a:ext cx="4709160" cy="5486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50608" y="3218688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CLAUSE DETECT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8" y="3675887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77056"/>
            <a:ext cx="470916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50608" y="3986784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RAG / SCORING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5168" y="444398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50608" y="4645152"/>
            <a:ext cx="470916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50608" y="4754880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REDLINE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5212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5413248"/>
            <a:ext cx="470916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50608" y="5522976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PDF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SYSTEM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922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End-to-end flow: from document upload to risk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11548872" cy="22860"/>
          </a:xfrm>
          <a:prstGeom prst="rect">
            <a:avLst/>
          </a:prstGeom>
          <a:solidFill>
            <a:srgbClr val="3B0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11548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  <a:latin typeface="Calibri"/>
              </a:rPr>
              <a:t>ContractAI  ·  PCTE Institute of Engineering and Technology, Ludhiana  ·  Ayush Yadav  2329304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230368" cy="658368"/>
          </a:xfrm>
          <a:prstGeom prst="rect">
            <a:avLst/>
          </a:prstGeom>
          <a:solidFill>
            <a:srgbClr val="33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36245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62456"/>
            <a:ext cx="46360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9775" y="19110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58568"/>
            <a:ext cx="5230368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38658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86584"/>
            <a:ext cx="46360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PDF / DOCX 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9775" y="293522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82696"/>
            <a:ext cx="5230368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41071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10712"/>
            <a:ext cx="46360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TEXT 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9775" y="39593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06824"/>
            <a:ext cx="5230368" cy="658368"/>
          </a:xfrm>
          <a:prstGeom prst="rect">
            <a:avLst/>
          </a:prstGeom>
          <a:solidFill>
            <a:srgbClr val="2A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443484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6360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CLAUSE EXTRACTION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9775" y="49834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30952"/>
            <a:ext cx="5230368" cy="658368"/>
          </a:xfrm>
          <a:prstGeom prst="rect">
            <a:avLst/>
          </a:prstGeom>
          <a:solidFill>
            <a:srgbClr val="2A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545896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58968"/>
            <a:ext cx="46360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METADATA EXTRACTION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50992" y="278892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1234440"/>
            <a:ext cx="5230368" cy="658368"/>
          </a:xfrm>
          <a:prstGeom prst="rect">
            <a:avLst/>
          </a:prstGeom>
          <a:solidFill>
            <a:srgbClr val="3B0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136245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136245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ChromaDB / RAG INDEXING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19110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01968" y="2258568"/>
            <a:ext cx="5230368" cy="658368"/>
          </a:xfrm>
          <a:prstGeom prst="rect">
            <a:avLst/>
          </a:prstGeom>
          <a:solidFill>
            <a:srgbClr val="4A1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11696" y="238658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238658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 + RULE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15984" y="293522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01968" y="3282696"/>
            <a:ext cx="5230368" cy="658368"/>
          </a:xfrm>
          <a:prstGeom prst="rect">
            <a:avLst/>
          </a:prstGeom>
          <a:solidFill>
            <a:srgbClr val="5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11696" y="341071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4107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RISK SCORING (0–100)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15984" y="39593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306824"/>
            <a:ext cx="5230368" cy="658368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434840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44348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REDLINE GENERATION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15984" y="49834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01968" y="5330952"/>
            <a:ext cx="5230368" cy="658368"/>
          </a:xfrm>
          <a:prstGeom prst="rect">
            <a:avLst/>
          </a:prstGeom>
          <a:solidFill>
            <a:srgbClr val="06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11696" y="5458968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54589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DASHBOARD + PDF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922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Technologies verified in the actual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11548872" cy="22860"/>
          </a:xfrm>
          <a:prstGeom prst="rect">
            <a:avLst/>
          </a:prstGeom>
          <a:solidFill>
            <a:srgbClr val="3B0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11548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  <a:latin typeface="Calibri"/>
              </a:rPr>
              <a:t>ContractAI  ·  PCTE Institute of Engineering and Technology, Ludhiana  ·  Ayush Yadav  2329304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07008"/>
            <a:ext cx="3703320" cy="2377440"/>
          </a:xfrm>
          <a:prstGeom prst="rect">
            <a:avLst/>
          </a:prstGeom>
          <a:solidFill>
            <a:srgbClr val="1E293B"/>
          </a:solidFill>
          <a:ln w="5080">
            <a:solidFill>
              <a:srgbClr val="3B0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07008"/>
            <a:ext cx="3703320" cy="91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" y="1371600"/>
            <a:ext cx="35021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755648"/>
            <a:ext cx="3502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  •  Python 3.x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176272"/>
            <a:ext cx="3502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  •  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596896"/>
            <a:ext cx="3502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  •  Uvicorn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017520"/>
            <a:ext cx="3502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  •  SQLAlchemy 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207008"/>
            <a:ext cx="3703320" cy="2377440"/>
          </a:xfrm>
          <a:prstGeom prst="rect">
            <a:avLst/>
          </a:prstGeom>
          <a:solidFill>
            <a:srgbClr val="1E293B"/>
          </a:solidFill>
          <a:ln w="5080">
            <a:solidFill>
              <a:srgbClr val="3B0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207008"/>
            <a:ext cx="3703320" cy="91440"/>
          </a:xfrm>
          <a:prstGeom prst="rect">
            <a:avLst/>
          </a:prstGeom>
          <a:solidFill>
            <a:srgbClr val="0E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5" y="1371600"/>
            <a:ext cx="35021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5E9A"/>
                </a:solidFill>
                <a:latin typeface="Calibri"/>
              </a:rPr>
              <a:t>DOCUMENT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1755648"/>
            <a:ext cx="3502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  •  PyMuPDF (fitz)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2176272"/>
            <a:ext cx="3502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  •  python-docx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2596896"/>
            <a:ext cx="3502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  •  PDF &amp; DOCX Parsing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1207008"/>
            <a:ext cx="3703320" cy="2377440"/>
          </a:xfrm>
          <a:prstGeom prst="rect">
            <a:avLst/>
          </a:prstGeom>
          <a:solidFill>
            <a:srgbClr val="1E293B"/>
          </a:solidFill>
          <a:ln w="5080">
            <a:solidFill>
              <a:srgbClr val="3B0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1207008"/>
            <a:ext cx="3703320" cy="91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456" y="1371600"/>
            <a:ext cx="35021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AI /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7" y="1755648"/>
            <a:ext cx="3502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  •  OpenAI GPT-4o-mini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7" y="2176272"/>
            <a:ext cx="3502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  •  LangChain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7" y="2596896"/>
            <a:ext cx="3502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  •  NLP Rule Matching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767328"/>
            <a:ext cx="3703320" cy="2377440"/>
          </a:xfrm>
          <a:prstGeom prst="rect">
            <a:avLst/>
          </a:prstGeom>
          <a:solidFill>
            <a:srgbClr val="1E293B"/>
          </a:solidFill>
          <a:ln w="5080">
            <a:solidFill>
              <a:srgbClr val="3B0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767328"/>
            <a:ext cx="3703320" cy="91440"/>
          </a:xfrm>
          <a:prstGeom prst="rect">
            <a:avLst/>
          </a:prstGeom>
          <a:solidFill>
            <a:srgbClr val="3B0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" y="3931920"/>
            <a:ext cx="35021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0F6E"/>
                </a:solidFill>
                <a:latin typeface="Calibri"/>
              </a:rPr>
              <a:t>RAG / VECTOR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4315968"/>
            <a:ext cx="3502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  •  ChromaDB (Persistent)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" y="4736592"/>
            <a:ext cx="3502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  •  Vector Embeddings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5157216"/>
            <a:ext cx="3502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  •  Semantic Search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767328"/>
            <a:ext cx="3703320" cy="2377440"/>
          </a:xfrm>
          <a:prstGeom prst="rect">
            <a:avLst/>
          </a:prstGeom>
          <a:solidFill>
            <a:srgbClr val="1E293B"/>
          </a:solidFill>
          <a:ln w="5080">
            <a:solidFill>
              <a:srgbClr val="3B0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06240" y="3767328"/>
            <a:ext cx="3703320" cy="91440"/>
          </a:xfrm>
          <a:prstGeom prst="rect">
            <a:avLst/>
          </a:prstGeom>
          <a:solidFill>
            <a:srgbClr val="06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34255" y="3931920"/>
            <a:ext cx="35021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03C"/>
                </a:solidFill>
                <a:latin typeface="Calibri"/>
              </a:rPr>
              <a:t>FRONTEND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4315968"/>
            <a:ext cx="3502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  •  React 19 + TypeScript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5968" y="4736592"/>
            <a:ext cx="3502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  •  Vite + TailwindCSS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5157216"/>
            <a:ext cx="3502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  •  Recharts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5968" y="5577840"/>
            <a:ext cx="3502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  •  lucide-react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92440" y="3767328"/>
            <a:ext cx="3703320" cy="2377440"/>
          </a:xfrm>
          <a:prstGeom prst="rect">
            <a:avLst/>
          </a:prstGeom>
          <a:solidFill>
            <a:srgbClr val="1E293B"/>
          </a:solidFill>
          <a:ln w="5080">
            <a:solidFill>
              <a:srgbClr val="3B0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92440" y="3767328"/>
            <a:ext cx="3703320" cy="91440"/>
          </a:xfrm>
          <a:prstGeom prst="rect">
            <a:avLst/>
          </a:prstGeom>
          <a:solidFill>
            <a:srgbClr val="5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0456" y="3931920"/>
            <a:ext cx="35021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A1A1A"/>
                </a:solidFill>
                <a:latin typeface="Calibri"/>
              </a:rPr>
              <a:t>DATABASE &amp; REPORTS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02167" y="4315968"/>
            <a:ext cx="3502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  •  SQLite via SQLAlchemy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02167" y="4736592"/>
            <a:ext cx="3502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  •  ReportLab PDF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AI-POWERED CONTRACT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922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The RAG + Rule Engine pipeline that drives risk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11548872" cy="22860"/>
          </a:xfrm>
          <a:prstGeom prst="rect">
            <a:avLst/>
          </a:prstGeom>
          <a:solidFill>
            <a:srgbClr val="3B0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11548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  <a:latin typeface="Calibri"/>
              </a:rPr>
              <a:t>ContractAI  ·  PCTE Institute of Engineering and Technology, Ludhiana  ·  Ayush Yadav  2329304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07592"/>
            <a:ext cx="9144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NLP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5506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  <a:latin typeface="Calibri"/>
              </a:rPr>
              <a:t>Tokenizes &amp; segments raw contract 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221992"/>
            <a:ext cx="91440" cy="548640"/>
          </a:xfrm>
          <a:prstGeom prst="rect">
            <a:avLst/>
          </a:prstGeom>
          <a:solidFill>
            <a:srgbClr val="0E7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ACA"/>
                </a:solidFill>
                <a:latin typeface="Calibri"/>
              </a:rPr>
              <a:t>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6946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  <a:latin typeface="Calibri"/>
              </a:rPr>
              <a:t>Converts clause text into high-dimensional vectors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136392"/>
            <a:ext cx="91440" cy="5486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089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D28D9"/>
                </a:solidFill>
                <a:latin typeface="Calibri"/>
              </a:rPr>
              <a:t>ChromaDB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8386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  <a:latin typeface="Calibri"/>
              </a:rPr>
              <a:t>Persistent vector store — semantic clause retrieval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050791"/>
            <a:ext cx="91440" cy="548640"/>
          </a:xfrm>
          <a:prstGeom prst="rect">
            <a:avLst/>
          </a:prstGeom>
          <a:solidFill>
            <a:srgbClr val="3B0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2335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0F6E"/>
                </a:solidFill>
                <a:latin typeface="Calibri"/>
              </a:rPr>
              <a:t>RAG Context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9826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  <a:latin typeface="Calibri"/>
              </a:rPr>
              <a:t>Retrieves top-3 similar legal-risk knowledge chunks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965192"/>
            <a:ext cx="9144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93775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LLM (GPT-4o-mini)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1266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  <a:latin typeface="Calibri"/>
              </a:rPr>
              <a:t>Explains risk &amp; generates redline suggestion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879592"/>
            <a:ext cx="9144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85215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Rule Engine (40%)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2706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  <a:latin typeface="Calibri"/>
              </a:rPr>
              <a:t>Deterministic regex patterns for known risk terms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17043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RAG PIPELINE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84848" y="1572768"/>
            <a:ext cx="5074920" cy="566928"/>
          </a:xfrm>
          <a:prstGeom prst="rect">
            <a:avLst/>
          </a:prstGeom>
          <a:solidFill>
            <a:srgbClr val="33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4848" y="1682495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CLAUSE 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215798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4848" y="2395728"/>
            <a:ext cx="5074920" cy="5669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4848" y="250545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EMBEDDING GENERATION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298094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84848" y="3218688"/>
            <a:ext cx="5074920" cy="5669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332841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CHROMADB VECTOR 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380390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84848" y="4041648"/>
            <a:ext cx="5074920" cy="566928"/>
          </a:xfrm>
          <a:prstGeom prst="rect">
            <a:avLst/>
          </a:prstGeom>
          <a:solidFill>
            <a:srgbClr val="3B0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84848" y="415137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SIMILAR CLAUSE RETRIEVAL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3728" y="462686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84848" y="4864608"/>
            <a:ext cx="5074920" cy="566928"/>
          </a:xfrm>
          <a:prstGeom prst="rect">
            <a:avLst/>
          </a:prstGeom>
          <a:solidFill>
            <a:srgbClr val="5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4848" y="497433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LLM + CONTEXT PROMPT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544982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84848" y="5687568"/>
            <a:ext cx="5074920" cy="566928"/>
          </a:xfrm>
          <a:prstGeom prst="rect">
            <a:avLst/>
          </a:prstGeom>
          <a:solidFill>
            <a:srgbClr val="06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84848" y="57972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RISK EXPLANATION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291072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Calibri"/>
              </a:rPr>
              <a:t>Composite Score =  Rule Engine × 0.40  +  LLM Score × 0.40  +  RAG Score × 0.20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RISK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922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Composite scoring formula + AI-generated redline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11548872" cy="22860"/>
          </a:xfrm>
          <a:prstGeom prst="rect">
            <a:avLst/>
          </a:prstGeom>
          <a:solidFill>
            <a:srgbClr val="3B0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11548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  <a:latin typeface="Calibri"/>
              </a:rPr>
              <a:t>ContractAI  ·  PCTE Institute of Engineering and Technology, Ludhiana  ·  Ayush Yadav  2329304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07008"/>
            <a:ext cx="5532120" cy="2331720"/>
          </a:xfrm>
          <a:prstGeom prst="rect">
            <a:avLst/>
          </a:prstGeom>
          <a:solidFill>
            <a:srgbClr val="1E293B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335024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COMPOSITE RISK SCORE 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19072"/>
            <a:ext cx="5166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urier New"/>
              </a:rPr>
              <a:t>Overall Score =</a:t>
            </a:r>
          </a:p>
          <a:p>
            <a:pPr algn="l"/>
            <a:r>
              <a:rPr sz="1300" b="0" i="0">
                <a:solidFill>
                  <a:srgbClr val="F59E0B"/>
                </a:solidFill>
                <a:latin typeface="Courier New"/>
              </a:rPr>
              <a:t>  (Rule Engine  ×  0.40)</a:t>
            </a:r>
          </a:p>
          <a:p>
            <a:pPr algn="l"/>
            <a:r>
              <a:rPr sz="1300" b="0" i="0">
                <a:solidFill>
                  <a:srgbClr val="EF4444"/>
                </a:solidFill>
                <a:latin typeface="Courier New"/>
              </a:rPr>
              <a:t>+ (LLM Score    ×  0.40)</a:t>
            </a:r>
          </a:p>
          <a:p>
            <a:pPr algn="l"/>
            <a:r>
              <a:rPr sz="1300" b="0" i="0">
                <a:solidFill>
                  <a:srgbClr val="7C3AED"/>
                </a:solidFill>
                <a:latin typeface="Courier New"/>
              </a:rPr>
              <a:t>+ (RAG Score    ×  0.20)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74320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Calibri"/>
              </a:rPr>
              <a:t>RISK TIERS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063240"/>
            <a:ext cx="1719072" cy="9875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063240"/>
            <a:ext cx="171907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LOW
0–30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2848" y="3063240"/>
            <a:ext cx="1719072" cy="9875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12848" y="3063240"/>
            <a:ext cx="171907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MEDIUM
31–65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05656" y="3063240"/>
            <a:ext cx="1719072" cy="9875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05656" y="3063240"/>
            <a:ext cx="171907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HIGH
66–100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2062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15+ clause categories:  Indemnity · Liability · Termination · Non-Compete · IP · Data Protection · Force Majeure 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207008"/>
            <a:ext cx="5742432" cy="4983480"/>
          </a:xfrm>
          <a:prstGeom prst="rect">
            <a:avLst/>
          </a:prstGeom>
          <a:solidFill>
            <a:srgbClr val="1E293B"/>
          </a:solidFill>
          <a:ln w="6350">
            <a:solidFill>
              <a:srgbClr val="3B0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1316736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EXAMPLE REDLINE  (from redline_service.py)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27648" y="1700784"/>
            <a:ext cx="2011680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170078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ORIGINAL CLAUSE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011680"/>
            <a:ext cx="5376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  <a:latin typeface="Calibri"/>
              </a:rPr>
              <a:t>"Each party shall indemnify and hold harmless the other against any and all losses, claims, damages, liabilities and expenses…"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7648" y="2889504"/>
            <a:ext cx="5376672" cy="27432"/>
          </a:xfrm>
          <a:prstGeom prst="rect">
            <a:avLst/>
          </a:prstGeom>
          <a:solidFill>
            <a:srgbClr val="3B0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7648" y="2980944"/>
            <a:ext cx="182880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29809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RISK IDENTIFIED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291840"/>
            <a:ext cx="5376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Unlimited mutual indemnity — potentially high financial exposure with no liability cap.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7648" y="3886200"/>
            <a:ext cx="5376672" cy="27432"/>
          </a:xfrm>
          <a:prstGeom prst="rect">
            <a:avLst/>
          </a:prstGeom>
          <a:solidFill>
            <a:srgbClr val="3B0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27648" y="3977639"/>
            <a:ext cx="233172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3977639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AI-SUGGESTED REDLINE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297680"/>
            <a:ext cx="5376672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1F5F9"/>
                </a:solidFill>
                <a:latin typeface="Calibri"/>
              </a:rPr>
              <a:t>"Each party (Indemnifying Party) shall defend and indemnify the other against direct third-party losses arising directly from gross negligence or material breach, subject to the Limitation of Liability cap set forth herein."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922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Actual running application — screenshots from the live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11548872" cy="22860"/>
          </a:xfrm>
          <a:prstGeom prst="rect">
            <a:avLst/>
          </a:prstGeom>
          <a:solidFill>
            <a:srgbClr val="3B0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11548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  <a:latin typeface="Calibri"/>
              </a:rPr>
              <a:t>ContractAI  ·  PCTE Institute of Engineering and Technology, Ludhiana  ·  Ayush Yadav  2329304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5897880" cy="2523744"/>
          </a:xfrm>
          <a:prstGeom prst="rect">
            <a:avLst/>
          </a:prstGeom>
          <a:solidFill>
            <a:srgbClr val="0A1422"/>
          </a:solidFill>
          <a:ln w="6350">
            <a:solidFill>
              <a:srgbClr val="3B0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_page_17903952676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52728"/>
            <a:ext cx="5806440" cy="195681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3200400"/>
            <a:ext cx="58978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323697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Risk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51129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Metrics · Risk Overview · Upload Zone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07008"/>
            <a:ext cx="5897880" cy="2523744"/>
          </a:xfrm>
          <a:prstGeom prst="rect">
            <a:avLst/>
          </a:prstGeom>
          <a:solidFill>
            <a:srgbClr val="0A1422"/>
          </a:solidFill>
          <a:ln w="6350">
            <a:solidFill>
              <a:srgbClr val="3B0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upload_page_17903952871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52728"/>
            <a:ext cx="5806440" cy="195681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09360" y="3200400"/>
            <a:ext cx="58978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23697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Contract Upload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51129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PDF / DOCX Ingestion &amp; Analysis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13632"/>
            <a:ext cx="5897880" cy="2523744"/>
          </a:xfrm>
          <a:prstGeom prst="rect">
            <a:avLst/>
          </a:prstGeom>
          <a:solidFill>
            <a:srgbClr val="0A1422"/>
          </a:solidFill>
          <a:ln w="6350">
            <a:solidFill>
              <a:srgbClr val="3B0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greements_page_17903953211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959352"/>
            <a:ext cx="5806440" cy="195681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74320" y="5907024"/>
            <a:ext cx="58978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59436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Legal Agreements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621792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Contract Registry with Risk-Level Filtering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913632"/>
            <a:ext cx="5897880" cy="2523744"/>
          </a:xfrm>
          <a:prstGeom prst="rect">
            <a:avLst/>
          </a:prstGeom>
          <a:solidFill>
            <a:srgbClr val="0A1422"/>
          </a:solidFill>
          <a:ln w="6350">
            <a:solidFill>
              <a:srgbClr val="3B0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ompare_page_17903953366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959352"/>
            <a:ext cx="5806440" cy="1956815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09360" y="5907024"/>
            <a:ext cx="58978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9436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Contract Comparison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621792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Side-by-Side Risk Posture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RESULTS &amp;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922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What the system delivers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11548872" cy="22860"/>
          </a:xfrm>
          <a:prstGeom prst="rect">
            <a:avLst/>
          </a:prstGeom>
          <a:solidFill>
            <a:srgbClr val="3B0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11548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  <a:latin typeface="Calibri"/>
              </a:rPr>
              <a:t>ContractAI  ·  PCTE Institute of Engineering and Technology, Ludhiana  ·  Ayush Yadav  2329304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7043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SYSTEM CAPABILITIES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81912"/>
            <a:ext cx="36576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819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60020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Automated first-pass contract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267712"/>
            <a:ext cx="36576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2677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28600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15+ legal clause categories detected automatically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53512"/>
            <a:ext cx="36576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9535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297180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AI + Rule-based risk scoring (composite 0–100)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39312"/>
            <a:ext cx="36576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639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65760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Plain-English risk explanations for each clause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325112"/>
            <a:ext cx="36576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3251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34340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AI-suggested safer clause alternatives (redlines)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010912"/>
            <a:ext cx="36576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50109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02920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Structured PDF executive summary report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696712"/>
            <a:ext cx="36576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56967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571500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Centralized dashboard for contract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170432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BEFORE  vs  AFTER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554480"/>
            <a:ext cx="5486400" cy="2157984"/>
          </a:xfrm>
          <a:prstGeom prst="rect">
            <a:avLst/>
          </a:prstGeom>
          <a:solidFill>
            <a:srgbClr val="5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164592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BEFORE ContractAI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2048256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📄  Long contract received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2432304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👁   Manual clause-by-clause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2816352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⏱   Hours of legal work required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320040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❌  Risk clauses potentially missed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87968" y="3749039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  <a:latin typeface="Calibri"/>
              </a:rPr>
              <a:t>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096512"/>
            <a:ext cx="5486400" cy="2157984"/>
          </a:xfrm>
          <a:prstGeom prst="rect">
            <a:avLst/>
          </a:prstGeom>
          <a:solidFill>
            <a:srgbClr val="06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4187952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AFTER ContractAI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4590288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📤  Upload PDF or DOCX file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4974336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🤖  AI analyzes in seconds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5392" y="5358383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📊  Risk dashboard opened instantly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5742431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✅  Actionable redline insights ready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922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Summary and roadmap for ContractAI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11548872" cy="22860"/>
          </a:xfrm>
          <a:prstGeom prst="rect">
            <a:avLst/>
          </a:prstGeom>
          <a:solidFill>
            <a:srgbClr val="3B0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11548872" cy="1481328"/>
          </a:xfrm>
          <a:prstGeom prst="rect">
            <a:avLst/>
          </a:prstGeom>
          <a:solidFill>
            <a:srgbClr val="1E293B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91440" cy="14813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225296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087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ContractAI demonstrates how AI, NLP, RAG and rule-based analysis can be combined to perform automated preliminary contract risk analysis through a web-based platform. The system integrates FastAPI, ChromaDB, OpenAI GPT-4o-mini, React/TypeScript and ReportLab to deliver risk scoring, clause detection, plain-English explanations, AI redlines and PDF reports.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8163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FUTURE 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255264"/>
            <a:ext cx="329184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25526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2644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OCR support for scanned / image contracts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831336"/>
            <a:ext cx="329184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83133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8404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Richer domain-specific legal knowledge 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407408"/>
            <a:ext cx="329184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4074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4165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Fine-tuned legal-domain LLM models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983480"/>
            <a:ext cx="329184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9834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9926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Multilingual contract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3255264"/>
            <a:ext cx="329184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4768" y="325526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2644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Advanced contract comparison engine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3831336"/>
            <a:ext cx="329184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4768" y="383133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84048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Human-in-the-loop legal review workflow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4768" y="4407408"/>
            <a:ext cx="329184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44074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41655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Enterprise integrations (CRM / ERP / e-Sign)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44768" y="4983480"/>
            <a:ext cx="329184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4768" y="49834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992624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Role-based access control for legal teams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5468112"/>
            <a:ext cx="12188952" cy="1389888"/>
          </a:xfrm>
          <a:prstGeom prst="rect">
            <a:avLst/>
          </a:prstGeom>
          <a:solidFill>
            <a:srgbClr val="1A0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0" y="5541264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60807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Questions?   ·   Ayush Yadav   ·   Roll No. 2329304   ·   B.Tech CSE 4-C   ·   Submitted to Ms. Mandeep Kaur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